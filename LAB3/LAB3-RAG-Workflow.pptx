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7863840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Tahoma"/>
              </a:rPr>
              <a:t>RAG Workflow — Online Scam Awareness QA System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9FB3CC"/>
                </a:solidFill>
                <a:latin typeface="Tahoma"/>
              </a:rPr>
              <a:t>LAB3 · DL-04 RAG System Development I  |  Hybrid Retrieval (BM25 + Dense) → RRF → LLM  ·  ภาษาไทย 391 Q&amp;A / 404 chunks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46304"/>
            <a:ext cx="3383280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Tahoma"/>
              </a:rPr>
              <a:t>116730462033-5  Prapakorn Phithamma</a:t>
            </a:r>
          </a:p>
          <a:p>
            <a:pPr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700" b="0">
                <a:solidFill>
                  <a:srgbClr val="9FB3CC"/>
                </a:solidFill>
                <a:latin typeface="Consolas"/>
              </a:rPr>
              <a:t>github.com/Mrbeer19/04622404-Advanced-Topics-in-Computer-Software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115568"/>
            <a:ext cx="2066543" cy="566928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65860"/>
            <a:ext cx="2066543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ahoma"/>
              </a:rPr>
              <a:t>1  INPUT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Tahoma"/>
              </a:rPr>
              <a:t>คำถามผู้ใช้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737360"/>
            <a:ext cx="2066543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737360"/>
            <a:ext cx="50292" cy="1874519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847088"/>
            <a:ext cx="1883663" cy="17373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1D4ED8"/>
                </a:solidFill>
                <a:latin typeface="Consolas"/>
              </a:rPr>
              <a:t>main.py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819" b="0">
                <a:solidFill>
                  <a:srgbClr val="141B2D"/>
                </a:solidFill>
                <a:latin typeface="Consolas"/>
              </a:rPr>
              <a:t>   main()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input() loop -&gt; rag.ask(q)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760" b="1">
                <a:solidFill>
                  <a:srgbClr val="1D4ED8"/>
                </a:solidFill>
                <a:latin typeface="Consolas"/>
              </a:rPr>
              <a:t>src/query_transform.py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819" b="0">
                <a:solidFill>
                  <a:srgbClr val="141B2D"/>
                </a:solidFill>
                <a:latin typeface="Consolas"/>
              </a:rPr>
              <a:t>   normalize_query()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แก้คำแสลง เป็นคำมาตรฐาน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760" b="1">
                <a:solidFill>
                  <a:srgbClr val="1D4ED8"/>
                </a:solidFill>
                <a:latin typeface="Consolas"/>
              </a:rPr>
              <a:t>src/memory.py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819" b="0">
                <a:solidFill>
                  <a:srgbClr val="141B2D"/>
                </a:solidFill>
                <a:latin typeface="Consolas"/>
              </a:rPr>
              <a:t>   get_context()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ประวัติ 6 รอบล่าสุด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91739" y="1298448"/>
            <a:ext cx="246888" cy="201168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79775" y="1115568"/>
            <a:ext cx="2066543" cy="566928"/>
          </a:xfrm>
          <a:prstGeom prst="roundRect">
            <a:avLst>
              <a:gd name="adj" fmla="val 12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9775" y="1165860"/>
            <a:ext cx="2066543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ahoma"/>
              </a:rPr>
              <a:t>2  RETRIEVAL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Tahoma"/>
              </a:rPr>
              <a:t>ค้นแบบผสม (Hybrid)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9775" y="1737360"/>
            <a:ext cx="2066543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9775" y="1737360"/>
            <a:ext cx="50292" cy="1874519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9503" y="1847088"/>
            <a:ext cx="1883663" cy="17373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0E7490"/>
                </a:solidFill>
                <a:latin typeface="Consolas"/>
              </a:rPr>
              <a:t>src/hybrid_retriever.py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819" b="0">
                <a:solidFill>
                  <a:srgbClr val="141B2D"/>
                </a:solidFill>
                <a:latin typeface="Consolas"/>
              </a:rPr>
              <a:t>   HybridRetriever.retrieve()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1  dense_search() -&gt; FAISS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2  bm25_search() + PyThaiNLP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3  reciprocal_rank_fusion()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760" b="1">
                <a:solidFill>
                  <a:srgbClr val="0E7490"/>
                </a:solidFill>
                <a:latin typeface="Consolas"/>
              </a:rPr>
              <a:t>src/rerankers.py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819" b="0">
                <a:solidFill>
                  <a:srgbClr val="141B2D"/>
                </a:solidFill>
                <a:latin typeface="Consolas"/>
              </a:rPr>
              <a:t>   rerank()  (optional)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CANDIDATE_K 20 -&gt; TOP_K 3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87467" y="1298448"/>
            <a:ext cx="246888" cy="201168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75503" y="1115568"/>
            <a:ext cx="2066543" cy="566928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3" y="1165860"/>
            <a:ext cx="2066543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ahoma"/>
              </a:rPr>
              <a:t>3  CONTEXT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Tahoma"/>
              </a:rPr>
              <a:t>ประกอบ Prompt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75503" y="1737360"/>
            <a:ext cx="2066543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75503" y="1737360"/>
            <a:ext cx="50292" cy="1874519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85231" y="1847088"/>
            <a:ext cx="1883663" cy="17373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0F766E"/>
                </a:solidFill>
                <a:latin typeface="Consolas"/>
              </a:rPr>
              <a:t>src/prompt_templates.py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819" b="0">
                <a:solidFill>
                  <a:srgbClr val="141B2D"/>
                </a:solidFill>
                <a:latin typeface="Consolas"/>
              </a:rPr>
              <a:t>   format_context()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chunk เป็นบล็อก [1][2][3]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จำกัด 6,000 ตัวอักษร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build_messages()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SYSTEM_PROMPT + history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+ คำถาม -&gt; messages[]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283195" y="1298448"/>
            <a:ext cx="246888" cy="201168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71231" y="1115568"/>
            <a:ext cx="2066543" cy="566928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71231" y="1165860"/>
            <a:ext cx="2066543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ahoma"/>
              </a:rPr>
              <a:t>4  LLM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Tahoma"/>
              </a:rPr>
              <a:t>เขียนคำตอบ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71231" y="1737360"/>
            <a:ext cx="2066543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71231" y="1737360"/>
            <a:ext cx="50292" cy="1874519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59" y="1847088"/>
            <a:ext cx="1883663" cy="17373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6D28D9"/>
                </a:solidFill>
                <a:latin typeface="Consolas"/>
              </a:rPr>
              <a:t>src/generator.py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819" b="0">
                <a:solidFill>
                  <a:srgbClr val="141B2D"/>
                </a:solidFill>
                <a:latin typeface="Consolas"/>
              </a:rPr>
              <a:t>   get_llm() -&gt; LLM.chat()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Ollama llama3.1:8b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OpenAI-compatible API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temperature 0.2 / 800 tok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Generator.generate()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ไม่เจอ context = ไม่เดา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678924" y="1298448"/>
            <a:ext cx="246888" cy="201168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966959" y="1115568"/>
            <a:ext cx="2066543" cy="566928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66959" y="1165860"/>
            <a:ext cx="2066543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ahoma"/>
              </a:rPr>
              <a:t>5  OUTPUT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Tahoma"/>
              </a:rPr>
              <a:t>คำตอบ + แหล่งอ้างอิง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66959" y="1737360"/>
            <a:ext cx="2066543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6959" y="1737360"/>
            <a:ext cx="50292" cy="1874519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76687" y="1847088"/>
            <a:ext cx="1883663" cy="17373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B45309"/>
                </a:solidFill>
                <a:latin typeface="Consolas"/>
              </a:rPr>
              <a:t>src/generator.py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819" b="0">
                <a:solidFill>
                  <a:srgbClr val="141B2D"/>
                </a:solidFill>
                <a:latin typeface="Consolas"/>
              </a:rPr>
              <a:t>   build_sources()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[n] -&gt; question / line_no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+ score ของ chunk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760" b="1">
                <a:solidFill>
                  <a:srgbClr val="B45309"/>
                </a:solidFill>
                <a:latin typeface="Consolas"/>
              </a:rPr>
              <a:t>main.py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819" b="0">
                <a:solidFill>
                  <a:srgbClr val="141B2D"/>
                </a:solidFill>
                <a:latin typeface="Consolas"/>
              </a:rPr>
              <a:t>   print_answer()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760" b="1">
                <a:solidFill>
                  <a:srgbClr val="B45309"/>
                </a:solidFill>
                <a:latin typeface="Consolas"/>
              </a:rPr>
              <a:t>config.py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819" b="0">
                <a:solidFill>
                  <a:srgbClr val="141B2D"/>
                </a:solidFill>
                <a:latin typeface="Consolas"/>
              </a:rPr>
              <a:t>   DISCLAIMER ต่อท้าย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จำคำตอบเข้า memory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" y="3794760"/>
            <a:ext cx="11420856" cy="93268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143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3913632"/>
            <a:ext cx="2286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223A"/>
                </a:solidFill>
                <a:latin typeface="Tahoma"/>
              </a:rPr>
              <a:t>OFFLINE  ·  build_index.py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รันครั้งเดียวก่อนใช้งาน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80360" y="3922776"/>
            <a:ext cx="1353312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3986784"/>
            <a:ext cx="1261872" cy="6217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67B"/>
                </a:solidFill>
                <a:latin typeface="Consolas"/>
              </a:rPr>
              <a:t>data/scam_q_a.txt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680" b="0">
                <a:solidFill>
                  <a:srgbClr val="5B667B"/>
                </a:solidFill>
                <a:latin typeface="Tahoma"/>
              </a:rPr>
              <a:t>391 Q&amp;A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4238244" y="4187952"/>
            <a:ext cx="118872" cy="146304"/>
          </a:xfrm>
          <a:prstGeom prst="rightArrow">
            <a:avLst/>
          </a:prstGeom>
          <a:solidFill>
            <a:srgbClr val="B6C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361688" y="3922776"/>
            <a:ext cx="1353312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07407" y="3986784"/>
            <a:ext cx="1261872" cy="6217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67B"/>
                </a:solidFill>
                <a:latin typeface="Consolas"/>
              </a:rPr>
              <a:t>document_loader.py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E7490"/>
                </a:solidFill>
                <a:latin typeface="Consolas"/>
              </a:rPr>
              <a:t>load_qa_file()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680" b="0">
                <a:solidFill>
                  <a:srgbClr val="5B667B"/>
                </a:solidFill>
                <a:latin typeface="Tahoma"/>
              </a:rPr>
              <a:t>แยก Q / A + หมวด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5719572" y="4187952"/>
            <a:ext cx="118872" cy="146304"/>
          </a:xfrm>
          <a:prstGeom prst="rightArrow">
            <a:avLst/>
          </a:prstGeom>
          <a:solidFill>
            <a:srgbClr val="B6C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843016" y="3922776"/>
            <a:ext cx="1353312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88736" y="3986784"/>
            <a:ext cx="1261872" cy="6217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67B"/>
                </a:solidFill>
                <a:latin typeface="Consolas"/>
              </a:rPr>
              <a:t>text_splitter.py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E7490"/>
                </a:solidFill>
                <a:latin typeface="Consolas"/>
              </a:rPr>
              <a:t>build_chunks()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680" b="0">
                <a:solidFill>
                  <a:srgbClr val="5B667B"/>
                </a:solidFill>
                <a:latin typeface="Tahoma"/>
              </a:rPr>
              <a:t>400 ตัวอักษร ซ้อน 50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7200900" y="4187952"/>
            <a:ext cx="118872" cy="146304"/>
          </a:xfrm>
          <a:prstGeom prst="rightArrow">
            <a:avLst/>
          </a:prstGeom>
          <a:solidFill>
            <a:srgbClr val="B6C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324344" y="3922776"/>
            <a:ext cx="1353312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70064" y="3986784"/>
            <a:ext cx="1261872" cy="6217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67B"/>
                </a:solidFill>
                <a:latin typeface="Consolas"/>
              </a:rPr>
              <a:t>embedding_model.py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E7490"/>
                </a:solidFill>
                <a:latin typeface="Consolas"/>
              </a:rPr>
              <a:t>encode()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680" b="0">
                <a:solidFill>
                  <a:srgbClr val="5B667B"/>
                </a:solidFill>
                <a:latin typeface="Tahoma"/>
              </a:rPr>
              <a:t>MiniLM-L12 multilingual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8682228" y="4187952"/>
            <a:ext cx="118872" cy="146304"/>
          </a:xfrm>
          <a:prstGeom prst="rightArrow">
            <a:avLst/>
          </a:prstGeom>
          <a:solidFill>
            <a:srgbClr val="B6C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805672" y="3922776"/>
            <a:ext cx="1353312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51392" y="3986784"/>
            <a:ext cx="1261872" cy="6217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67B"/>
                </a:solidFill>
                <a:latin typeface="Consolas"/>
              </a:rPr>
              <a:t>vector_store.py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E7490"/>
                </a:solidFill>
                <a:latin typeface="Consolas"/>
              </a:rPr>
              <a:t>build() + save()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680" b="0">
                <a:solidFill>
                  <a:srgbClr val="5B667B"/>
                </a:solidFill>
                <a:latin typeface="Tahoma"/>
              </a:rPr>
              <a:t>FAISS 404 vectors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10163556" y="4187952"/>
            <a:ext cx="118872" cy="146304"/>
          </a:xfrm>
          <a:prstGeom prst="rightArrow">
            <a:avLst/>
          </a:prstGeom>
          <a:solidFill>
            <a:srgbClr val="B6C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287000" y="3922776"/>
            <a:ext cx="1353312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32720" y="3986784"/>
            <a:ext cx="1261872" cy="6217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67B"/>
                </a:solidFill>
                <a:latin typeface="Consolas"/>
              </a:rPr>
              <a:t>hybrid_retriever.py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E7490"/>
                </a:solidFill>
                <a:latin typeface="Consolas"/>
              </a:rPr>
              <a:t>save_bm25()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680" b="0">
                <a:solidFill>
                  <a:srgbClr val="5B667B"/>
                </a:solidFill>
                <a:latin typeface="Tahoma"/>
              </a:rPr>
              <a:t>BM25 index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4048" y="4956048"/>
            <a:ext cx="736092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" y="5065776"/>
            <a:ext cx="71323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223A"/>
                </a:solidFill>
                <a:latin typeface="Tahoma"/>
              </a:rPr>
              <a:t>config.py  —  เปิด/ปิดทุกขั้นตอนได้จากไฟล์เดียว (ไม่ต้องแก้โค้ด)</a:t>
            </a:r>
          </a:p>
        </p:txBody>
      </p:sp>
      <p:sp>
        <p:nvSpPr>
          <p:cNvPr id="56" name="Oval 55"/>
          <p:cNvSpPr/>
          <p:nvPr/>
        </p:nvSpPr>
        <p:spPr>
          <a:xfrm>
            <a:off x="566928" y="5536692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8" y="5486400"/>
            <a:ext cx="16002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41B2D"/>
                </a:solidFill>
                <a:latin typeface="Consolas"/>
              </a:rPr>
              <a:t>USE_HYBRID = True</a:t>
            </a:r>
          </a:p>
        </p:txBody>
      </p:sp>
      <p:sp>
        <p:nvSpPr>
          <p:cNvPr id="58" name="Oval 57"/>
          <p:cNvSpPr/>
          <p:nvPr/>
        </p:nvSpPr>
        <p:spPr>
          <a:xfrm>
            <a:off x="2331720" y="5536692"/>
            <a:ext cx="109728" cy="109728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14600" y="5486400"/>
            <a:ext cx="16002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41B2D"/>
                </a:solidFill>
                <a:latin typeface="Consolas"/>
              </a:rPr>
              <a:t>USE_RERANK = False</a:t>
            </a:r>
          </a:p>
        </p:txBody>
      </p:sp>
      <p:sp>
        <p:nvSpPr>
          <p:cNvPr id="60" name="Oval 59"/>
          <p:cNvSpPr/>
          <p:nvPr/>
        </p:nvSpPr>
        <p:spPr>
          <a:xfrm>
            <a:off x="4096511" y="5536692"/>
            <a:ext cx="109728" cy="109728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79392" y="5486400"/>
            <a:ext cx="16002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41B2D"/>
                </a:solidFill>
                <a:latin typeface="Consolas"/>
              </a:rPr>
              <a:t>USE_QUERY_TRANSFORM = False</a:t>
            </a:r>
          </a:p>
        </p:txBody>
      </p:sp>
      <p:sp>
        <p:nvSpPr>
          <p:cNvPr id="62" name="Oval 61"/>
          <p:cNvSpPr/>
          <p:nvPr/>
        </p:nvSpPr>
        <p:spPr>
          <a:xfrm>
            <a:off x="5861304" y="5536692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44184" y="5486400"/>
            <a:ext cx="16002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41B2D"/>
                </a:solidFill>
                <a:latin typeface="Consolas"/>
              </a:rPr>
              <a:t>USE_MEMORY = True</a:t>
            </a:r>
          </a:p>
        </p:txBody>
      </p:sp>
      <p:sp>
        <p:nvSpPr>
          <p:cNvPr id="64" name="Oval 63"/>
          <p:cNvSpPr/>
          <p:nvPr/>
        </p:nvSpPr>
        <p:spPr>
          <a:xfrm>
            <a:off x="566928" y="5865876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9808" y="5815584"/>
            <a:ext cx="16002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41B2D"/>
                </a:solidFill>
                <a:latin typeface="Consolas"/>
              </a:rPr>
              <a:t>USE_LLM = True</a:t>
            </a:r>
          </a:p>
        </p:txBody>
      </p:sp>
      <p:sp>
        <p:nvSpPr>
          <p:cNvPr id="66" name="Oval 65"/>
          <p:cNvSpPr/>
          <p:nvPr/>
        </p:nvSpPr>
        <p:spPr>
          <a:xfrm>
            <a:off x="2331720" y="5865876"/>
            <a:ext cx="109728" cy="109728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14600" y="5815584"/>
            <a:ext cx="16002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41B2D"/>
                </a:solidFill>
                <a:latin typeface="Consolas"/>
              </a:rPr>
              <a:t>TOP_K = 3</a:t>
            </a:r>
          </a:p>
        </p:txBody>
      </p:sp>
      <p:sp>
        <p:nvSpPr>
          <p:cNvPr id="68" name="Oval 67"/>
          <p:cNvSpPr/>
          <p:nvPr/>
        </p:nvSpPr>
        <p:spPr>
          <a:xfrm>
            <a:off x="4096511" y="5865876"/>
            <a:ext cx="109728" cy="109728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79392" y="5815584"/>
            <a:ext cx="16002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41B2D"/>
                </a:solidFill>
                <a:latin typeface="Consolas"/>
              </a:rPr>
              <a:t>CANDIDATE_K = 20</a:t>
            </a:r>
          </a:p>
        </p:txBody>
      </p:sp>
      <p:sp>
        <p:nvSpPr>
          <p:cNvPr id="70" name="Oval 69"/>
          <p:cNvSpPr/>
          <p:nvPr/>
        </p:nvSpPr>
        <p:spPr>
          <a:xfrm>
            <a:off x="5861304" y="5865876"/>
            <a:ext cx="109728" cy="109728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44184" y="5815584"/>
            <a:ext cx="16002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41B2D"/>
                </a:solidFill>
                <a:latin typeface="Consolas"/>
              </a:rPr>
              <a:t>RRF_K = 60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918704" y="4956048"/>
            <a:ext cx="388620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918704" y="4956048"/>
            <a:ext cx="50292" cy="12984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01583" y="5065776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223A"/>
                </a:solidFill>
                <a:latin typeface="Tahoma"/>
              </a:rPr>
              <a:t>evaluation/  —  วัดผลด้วย golden set 54 ข้อ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19872" y="5504688"/>
            <a:ext cx="17830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dense อย่างเดียว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19872" y="5504688"/>
            <a:ext cx="17373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Consolas"/>
              </a:rPr>
              <a:t>MRR 0.827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5504688"/>
            <a:ext cx="17830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hybrid (ใช้จริง)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66960" y="5504688"/>
            <a:ext cx="17373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Consolas"/>
              </a:rPr>
              <a:t>MRR 0.906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19872" y="5833872"/>
            <a:ext cx="17830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hybrid + rerank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19872" y="5833872"/>
            <a:ext cx="17373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Consolas"/>
              </a:rPr>
              <a:t>MRR 0.963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66960" y="5833872"/>
            <a:ext cx="17830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67B"/>
                </a:solidFill>
                <a:latin typeface="Tahoma"/>
              </a:rPr>
              <a:t>faithfulness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66960" y="5833872"/>
            <a:ext cx="17373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Consolas"/>
              </a:rPr>
              <a:t>0.822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7863840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Tahoma"/>
              </a:rPr>
              <a:t>RAG Workflow  ↔  Source Code Mapping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9FB3CC"/>
                </a:solidFill>
                <a:latin typeface="Tahoma"/>
              </a:rPr>
              <a:t>แต่ละขั้นของ Flow อยู่ที่ไฟล์ใด ฟังก์ชันใด และทำงานอย่างไร  ·  เปิดประกอบกับ Source Code บน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46304"/>
            <a:ext cx="3383280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Tahoma"/>
              </a:rPr>
              <a:t>116730462033-5  Prapakorn Phithamma</a:t>
            </a:r>
          </a:p>
          <a:p>
            <a:pPr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700" b="0">
                <a:solidFill>
                  <a:srgbClr val="9FB3CC"/>
                </a:solidFill>
                <a:latin typeface="Consolas"/>
              </a:rPr>
              <a:t>github.com/Mrbeer19/04622404-Advanced-Topics-in-Computer-Software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1097280"/>
          <a:ext cx="11420856" cy="4892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/>
                <a:gridCol w="2697480"/>
                <a:gridCol w="3063240"/>
                <a:gridCol w="4425696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Tahoma"/>
                        </a:rPr>
                        <a:t>Flow Stage</a:t>
                      </a:r>
                    </a:p>
                  </a:txBody>
                  <a:tcPr marL="54864" marR="54864" marT="18288" marB="18288" anchor="ctr">
                    <a:solidFill>
                      <a:srgbClr val="11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Tahoma"/>
                        </a:rPr>
                        <a:t>ไฟล์ (File)</a:t>
                      </a:r>
                    </a:p>
                  </a:txBody>
                  <a:tcPr marL="54864" marR="54864" marT="18288" marB="18288" anchor="ctr">
                    <a:solidFill>
                      <a:srgbClr val="11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Tahoma"/>
                        </a:rPr>
                        <a:t>ฟังก์ชัน (Function)</a:t>
                      </a:r>
                    </a:p>
                  </a:txBody>
                  <a:tcPr marL="54864" marR="54864" marT="18288" marB="18288" anchor="ctr">
                    <a:solidFill>
                      <a:srgbClr val="11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Tahoma"/>
                        </a:rPr>
                        <a:t>ทำหน้าที่อะไร / ทำงานอย่างไร</a:t>
                      </a:r>
                    </a:p>
                  </a:txBody>
                  <a:tcPr marL="54864" marR="54864" marT="18288" marB="18288" anchor="ctr">
                    <a:solidFill>
                      <a:srgbClr val="11223A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D4ED8"/>
                          </a:solidFill>
                          <a:latin typeface="Tahoma"/>
                        </a:rPr>
                        <a:t>1  INPUT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0">
                          <a:solidFill>
                            <a:srgbClr val="141B2D"/>
                          </a:solidFill>
                          <a:latin typeface="Consolas"/>
                        </a:rPr>
                        <a:t>main.py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1">
                          <a:solidFill>
                            <a:srgbClr val="1D4ED8"/>
                          </a:solidFill>
                          <a:latin typeface="Consolas"/>
                        </a:rPr>
                        <a:t>main()  ·  print_answer()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00" b="0">
                          <a:solidFill>
                            <a:srgbClr val="141B2D"/>
                          </a:solidFill>
                          <a:latin typeface="Tahoma"/>
                        </a:rPr>
                        <a:t>วนรับคำถามจากผู้ใช้ ตรวจว่า index มีอยู่จริง แล้วส่งเข้า RAGPipeline.ask()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D4ED8"/>
                          </a:solidFill>
                          <a:latin typeface="Tahoma"/>
                        </a:rPr>
                        <a:t>1  INPUT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0">
                          <a:solidFill>
                            <a:srgbClr val="141B2D"/>
                          </a:solidFill>
                          <a:latin typeface="Consolas"/>
                        </a:rPr>
                        <a:t>src/query_transform.py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1">
                          <a:solidFill>
                            <a:srgbClr val="1D4ED8"/>
                          </a:solidFill>
                          <a:latin typeface="Consolas"/>
                        </a:rPr>
                        <a:t>normalize_query()  ·  transform()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00" b="0">
                          <a:solidFill>
                            <a:srgbClr val="141B2D"/>
                          </a:solidFill>
                          <a:latin typeface="Tahoma"/>
                        </a:rPr>
                        <a:t>แทนคำแสลงด้วยคำมาตรฐานจากตาราง (ไม่ใช้ AI); ถ้าเปิด flag จะเรียก LLM ทำ multi_query / hyde / rewrite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D4ED8"/>
                          </a:solidFill>
                          <a:latin typeface="Tahoma"/>
                        </a:rPr>
                        <a:t>1  INPUT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0">
                          <a:solidFill>
                            <a:srgbClr val="141B2D"/>
                          </a:solidFill>
                          <a:latin typeface="Consolas"/>
                        </a:rPr>
                        <a:t>src/memory.py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1">
                          <a:solidFill>
                            <a:srgbClr val="1D4ED8"/>
                          </a:solidFill>
                          <a:latin typeface="Consolas"/>
                        </a:rPr>
                        <a:t>get_context()  ·  is_followup()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00" b="0">
                          <a:solidFill>
                            <a:srgbClr val="141B2D"/>
                          </a:solidFill>
                          <a:latin typeface="Tahoma"/>
                        </a:rPr>
                        <a:t>เก็บบทสนทนา 6 รอบล่าสุด ใช้ตอบคำถามต่อเนื่อง ส่งให้ LLM เท่านั้น ไม่นำไปใช้ค้น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0E7490"/>
                          </a:solidFill>
                          <a:latin typeface="Tahoma"/>
                        </a:rPr>
                        <a:t>2  RETRIEVAL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0">
                          <a:solidFill>
                            <a:srgbClr val="141B2D"/>
                          </a:solidFill>
                          <a:latin typeface="Consolas"/>
                        </a:rPr>
                        <a:t>src/hybrid_retriever.py → src/vector_store.py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1">
                          <a:solidFill>
                            <a:srgbClr val="0E7490"/>
                          </a:solidFill>
                          <a:latin typeface="Consolas"/>
                        </a:rPr>
                        <a:t>dense_search()  →  VectorStore.search()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00" b="0">
                          <a:solidFill>
                            <a:srgbClr val="141B2D"/>
                          </a:solidFill>
                          <a:latin typeface="Tahoma"/>
                        </a:rPr>
                        <a:t>แปลงคำถามเป็นเวกเตอร์ด้วย MiniLM แล้วค้นความหมายใกล้เคียงจาก FAISS (inner product) เอา 20 อันดับแรก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0E7490"/>
                          </a:solidFill>
                          <a:latin typeface="Tahoma"/>
                        </a:rPr>
                        <a:t>2  RETRIEVAL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0">
                          <a:solidFill>
                            <a:srgbClr val="141B2D"/>
                          </a:solidFill>
                          <a:latin typeface="Consolas"/>
                        </a:rPr>
                        <a:t>src/hybrid_retriever.py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1">
                          <a:solidFill>
                            <a:srgbClr val="0E7490"/>
                          </a:solidFill>
                          <a:latin typeface="Consolas"/>
                        </a:rPr>
                        <a:t>bm25_search()  ·  tokenize()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00" b="0">
                          <a:solidFill>
                            <a:srgbClr val="141B2D"/>
                          </a:solidFill>
                          <a:latin typeface="Tahoma"/>
                        </a:rPr>
                        <a:t>ค้นด้วยคำตรงตัวแบบ BM25 ตัดคำไทยด้วย PyThaiNLP (newmm) เพราะภาษาไทยไม่มีช่องว่างระหว่างคำ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0E7490"/>
                          </a:solidFill>
                          <a:latin typeface="Tahoma"/>
                        </a:rPr>
                        <a:t>2  RETRIEVAL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0">
                          <a:solidFill>
                            <a:srgbClr val="141B2D"/>
                          </a:solidFill>
                          <a:latin typeface="Consolas"/>
                        </a:rPr>
                        <a:t>src/hybrid_retriever.py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1">
                          <a:solidFill>
                            <a:srgbClr val="0E7490"/>
                          </a:solidFill>
                          <a:latin typeface="Consolas"/>
                        </a:rPr>
                        <a:t>reciprocal_rank_fusion()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00" b="0">
                          <a:solidFill>
                            <a:srgbClr val="141B2D"/>
                          </a:solidFill>
                          <a:latin typeface="Tahoma"/>
                        </a:rPr>
                        <a:t>รวมอันดับจาก dense + BM25 ด้วยสูตร 1/(RRF_K + rank), RRF_K = 60 ทำให้ chunk ที่ทั้งสองวิธีเจอถูกดันขึ้น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0E7490"/>
                          </a:solidFill>
                          <a:latin typeface="Tahoma"/>
                        </a:rPr>
                        <a:t>2  RETRIEVAL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0">
                          <a:solidFill>
                            <a:srgbClr val="141B2D"/>
                          </a:solidFill>
                          <a:latin typeface="Consolas"/>
                        </a:rPr>
                        <a:t>src/rerankers.py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1">
                          <a:solidFill>
                            <a:srgbClr val="0E7490"/>
                          </a:solidFill>
                          <a:latin typeface="Consolas"/>
                        </a:rPr>
                        <a:t>Reranker.rerank()   (USE_RERANK = False)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00" b="0">
                          <a:solidFill>
                            <a:srgbClr val="141B2D"/>
                          </a:solidFill>
                          <a:latin typeface="Tahoma"/>
                        </a:rPr>
                        <a:t>ตัวเลือกเสริม cross-encoder bge-reranker-v2-m3 ให้คะแนนคู่ (คำถาม, chunk) เหลือ TOP_K = 3 แม่นขึ้นแต่ช้ากว่า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0F766E"/>
                          </a:solidFill>
                          <a:latin typeface="Tahoma"/>
                        </a:rPr>
                        <a:t>3  CONTEXT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0">
                          <a:solidFill>
                            <a:srgbClr val="141B2D"/>
                          </a:solidFill>
                          <a:latin typeface="Consolas"/>
                        </a:rPr>
                        <a:t>src/prompt_templates.py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1">
                          <a:solidFill>
                            <a:srgbClr val="0F766E"/>
                          </a:solidFill>
                          <a:latin typeface="Consolas"/>
                        </a:rPr>
                        <a:t>format_context()  ·  build_messages()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00" b="0">
                          <a:solidFill>
                            <a:srgbClr val="141B2D"/>
                          </a:solidFill>
                          <a:latin typeface="Tahoma"/>
                        </a:rPr>
                        <a:t>เรียง chunk เป็นบล็อกมีเลข [1][2][3] จำกัด 6,000 ตัวอักษรกัน context ล้น แล้วประกอบเป็น system + user message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6D28D9"/>
                          </a:solidFill>
                          <a:latin typeface="Tahoma"/>
                        </a:rPr>
                        <a:t>4  LLM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0">
                          <a:solidFill>
                            <a:srgbClr val="141B2D"/>
                          </a:solidFill>
                          <a:latin typeface="Consolas"/>
                        </a:rPr>
                        <a:t>src/generator.py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1">
                          <a:solidFill>
                            <a:srgbClr val="6D28D9"/>
                          </a:solidFill>
                          <a:latin typeface="Consolas"/>
                        </a:rPr>
                        <a:t>get_llm()  ·  LLM.chat()  ·  generate()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00" b="0">
                          <a:solidFill>
                            <a:srgbClr val="141B2D"/>
                          </a:solidFill>
                          <a:latin typeface="Tahoma"/>
                        </a:rPr>
                        <a:t>เรียก Ollama llama3.1:8b ผ่าน OpenAI-compatible API (temperature 0.2) ถ้าไม่พบ chunk จะตอบว่าไม่รู้ ไม่เดา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B45309"/>
                          </a:solidFill>
                          <a:latin typeface="Tahoma"/>
                        </a:rPr>
                        <a:t>5  OUTPUT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0">
                          <a:solidFill>
                            <a:srgbClr val="141B2D"/>
                          </a:solidFill>
                          <a:latin typeface="Consolas"/>
                        </a:rPr>
                        <a:t>src/generator.py + main.py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1">
                          <a:solidFill>
                            <a:srgbClr val="B45309"/>
                          </a:solidFill>
                          <a:latin typeface="Consolas"/>
                        </a:rPr>
                        <a:t>build_sources()  ·  print_answer()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00" b="0">
                          <a:solidFill>
                            <a:srgbClr val="141B2D"/>
                          </a:solidFill>
                          <a:latin typeface="Tahoma"/>
                        </a:rPr>
                        <a:t>จับเลข [n] ในคำตอบให้ตรงกับ question / line_no / score ของ chunk จริง แล้วต่อท้ายด้วย DISCLAIMER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475569"/>
                          </a:solidFill>
                          <a:latin typeface="Tahoma"/>
                        </a:rPr>
                        <a:t>OFFLINE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0">
                          <a:solidFill>
                            <a:srgbClr val="141B2D"/>
                          </a:solidFill>
                          <a:latin typeface="Consolas"/>
                        </a:rPr>
                        <a:t>build_index.py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1">
                          <a:solidFill>
                            <a:srgbClr val="475569"/>
                          </a:solidFill>
                          <a:latin typeface="Consolas"/>
                        </a:rPr>
                        <a:t>main()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00" b="0">
                          <a:solidFill>
                            <a:srgbClr val="141B2D"/>
                          </a:solidFill>
                          <a:latin typeface="Tahoma"/>
                        </a:rPr>
                        <a:t>391 Q&amp;A → 404 chunks → embeddings → FAISS + BM25 เก็บที่ vector_db/ ; index_meta เตือนเมื่อข้อมูลเปลี่ยนแต่ยังไม่ build ใหม่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475569"/>
                          </a:solidFill>
                          <a:latin typeface="Tahoma"/>
                        </a:rPr>
                        <a:t>EVAL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0">
                          <a:solidFill>
                            <a:srgbClr val="141B2D"/>
                          </a:solidFill>
                          <a:latin typeface="Consolas"/>
                        </a:rPr>
                        <a:t>evaluation/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80" b="1">
                          <a:solidFill>
                            <a:srgbClr val="475569"/>
                          </a:solidFill>
                          <a:latin typeface="Consolas"/>
                        </a:rPr>
                        <a:t>eval_retrieval · eval_generation · eval_query_transform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00" b="0">
                          <a:solidFill>
                            <a:srgbClr val="141B2D"/>
                          </a:solidFill>
                          <a:latin typeface="Tahoma"/>
                        </a:rPr>
                        <a:t>วัด MRR / Hit@k / nDCG@k จาก golden set 54 ข้อ และวัด faithfulness · correctness ของคำตอบด้วย LLM-as-judge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84048" y="6117336"/>
            <a:ext cx="11420856" cy="56692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143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199631"/>
            <a:ext cx="566928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1223A"/>
                </a:solidFill>
                <a:latin typeface="Tahoma"/>
              </a:rPr>
              <a:t>ผลการทดลอง (golden set 54 ข้อ)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>
                <a:solidFill>
                  <a:srgbClr val="141B2D"/>
                </a:solidFill>
                <a:latin typeface="Tahoma"/>
              </a:rPr>
              <a:t>dense 0.827  →  hybrid 0.906  →  hybrid + rerank 0.963 MRR   ·   faithfulness 0.822   ·   3.9 วินาที/คำถาม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199631"/>
            <a:ext cx="525780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1223A"/>
                </a:solidFill>
                <a:latin typeface="Tahoma"/>
              </a:rPr>
              <a:t>Source Code</a:t>
            </a:r>
          </a:p>
          <a:p>
            <a:pPr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>
                <a:solidFill>
                  <a:srgbClr val="1D4ED8"/>
                </a:solidFill>
                <a:latin typeface="Consolas"/>
              </a:rPr>
              <a:t>github.com/Mrbeer19/04622404-Advanced-Topics-in-Computer-Software  →  LAB3/RAG-Project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