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8412480" cy="6858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Tahoma"/>
              </a:rPr>
              <a:t>ระบบถาม-ตอบเรื่องภัยออนไลน์  ทำงานอย่างไร</a:t>
            </a:r>
          </a:p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A5B8D0"/>
                </a:solidFill>
                <a:latin typeface="Tahoma"/>
              </a:rPr>
              <a:t>อธิบายแบบไม่ต้องรู้เรื่องโปรแกรม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19456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Tahoma"/>
              </a:rPr>
              <a:t>116730462033-5  Prapakorn Phithamma</a:t>
            </a:r>
          </a:p>
          <a:p>
            <a:pPr algn="r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A5B8D0"/>
                </a:solidFill>
                <a:latin typeface="Tahoma"/>
              </a:rPr>
              <a:t>LAB3 · ระบบถาม-ตอบภัยออนไลน์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115568"/>
            <a:ext cx="11420856" cy="713232"/>
          </a:xfrm>
          <a:prstGeom prst="roundRect">
            <a:avLst>
              <a:gd name="adj" fmla="val 10000"/>
            </a:avLst>
          </a:prstGeom>
          <a:solidFill>
            <a:srgbClr val="EBF4F8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25296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223A"/>
                </a:solidFill>
                <a:latin typeface="Tahoma"/>
              </a:rPr>
              <a:t>เปรียบเทียบง่าย ๆ  :  เหมือนมีผู้ช่วยที่อ่าน “คู่มือภัยออนไลน์ 391 เรื่อง” จบมาแล้ว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2C3A50"/>
                </a:solidFill>
                <a:latin typeface="Tahoma"/>
              </a:rPr>
              <a:t>เวลาเราถาม เขาจะเปิดคู่มือหาหน้าที่เกี่ยวข้องก่อน แล้วค่อยเรียบเรียงตอบ  —  ไม่ตอบจากความจำตัวเอง และไม่แต่งเรื่องขึ้นเอง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084831"/>
            <a:ext cx="2066543" cy="24871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2084831"/>
            <a:ext cx="2066543" cy="685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2064" y="2286000"/>
            <a:ext cx="402336" cy="40233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350008"/>
            <a:ext cx="402336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359151"/>
            <a:ext cx="1380743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B2D"/>
                </a:solidFill>
                <a:latin typeface="Tahoma"/>
              </a:rPr>
              <a:t>คุณถาม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834639"/>
            <a:ext cx="1792223" cy="8229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C"/>
                </a:solidFill>
                <a:latin typeface="Tahoma"/>
              </a:rPr>
              <a:t>พิมพ์คำถามด้วยภาษาพูดปกติ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C"/>
                </a:solidFill>
                <a:latin typeface="Tahoma"/>
              </a:rPr>
              <a:t>ใช้คำแสลงก็ได้ ระบบแปลงให้เอง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3657600"/>
            <a:ext cx="1810511" cy="749808"/>
          </a:xfrm>
          <a:prstGeom prst="roundRect">
            <a:avLst>
              <a:gd name="adj" fmla="val 16000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3" y="3730752"/>
            <a:ext cx="1627631" cy="658368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67B"/>
                </a:solidFill>
                <a:latin typeface="Tahoma"/>
              </a:rPr>
              <a:t>ตัวอย่าง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1D4ED8"/>
                </a:solidFill>
                <a:latin typeface="Tahoma"/>
              </a:rPr>
              <a:t>“OTP คืออะไร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D4ED8"/>
                </a:solidFill>
                <a:latin typeface="Tahoma"/>
              </a:rPr>
              <a:t>ทำไมห้ามบอกคนอื่น”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96311" y="2377439"/>
            <a:ext cx="237744" cy="201168"/>
          </a:xfrm>
          <a:prstGeom prst="rightArrow">
            <a:avLst/>
          </a:prstGeom>
          <a:solidFill>
            <a:srgbClr val="9AA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79775" y="2084831"/>
            <a:ext cx="2066543" cy="24871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79775" y="2084831"/>
            <a:ext cx="2066543" cy="6858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907791" y="2286000"/>
            <a:ext cx="402336" cy="40233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07791" y="2350008"/>
            <a:ext cx="402336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79" y="2359151"/>
            <a:ext cx="1380743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B2D"/>
                </a:solidFill>
                <a:latin typeface="Tahoma"/>
              </a:rPr>
              <a:t>ระบบเปิดคู่มือหา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79" y="2834639"/>
            <a:ext cx="1792223" cy="8229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C"/>
                </a:solidFill>
                <a:latin typeface="Tahoma"/>
              </a:rPr>
              <a:t>ค้นจากคลังความรู้ 391 คำถาม-คำตอบ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C"/>
                </a:solidFill>
                <a:latin typeface="Tahoma"/>
              </a:rPr>
              <a:t>ที่รวบรวมไว้ล่วงหน้า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07791" y="3657600"/>
            <a:ext cx="1810511" cy="749808"/>
          </a:xfrm>
          <a:prstGeom prst="roundRect">
            <a:avLst>
              <a:gd name="adj" fmla="val 16000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99231" y="3730752"/>
            <a:ext cx="1627631" cy="658368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67B"/>
                </a:solidFill>
                <a:latin typeface="Tahoma"/>
              </a:rPr>
              <a:t>ตัวอย่าง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0E7490"/>
                </a:solidFill>
                <a:latin typeface="Tahoma"/>
              </a:rPr>
              <a:t>ค้นเจอเรื่องที่เกี่ยวข้อง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E7490"/>
                </a:solidFill>
                <a:latin typeface="Tahoma"/>
              </a:rPr>
              <a:t>20 เรื่อง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892039" y="2377439"/>
            <a:ext cx="237744" cy="201168"/>
          </a:xfrm>
          <a:prstGeom prst="rightArrow">
            <a:avLst/>
          </a:prstGeom>
          <a:solidFill>
            <a:srgbClr val="9AA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175503" y="2084831"/>
            <a:ext cx="2066543" cy="24871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75503" y="2084831"/>
            <a:ext cx="2066543" cy="685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19" y="2286000"/>
            <a:ext cx="402336" cy="402336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19" y="2350008"/>
            <a:ext cx="402336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79007" y="2359151"/>
            <a:ext cx="1380743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B2D"/>
                </a:solidFill>
                <a:latin typeface="Tahoma"/>
              </a:rPr>
              <a:t>คัดให้เหลือ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2834639"/>
            <a:ext cx="1792223" cy="8229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C"/>
                </a:solidFill>
                <a:latin typeface="Tahoma"/>
              </a:rPr>
              <a:t>เลือกเฉพาะเรื่องที่ตรงที่สุด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C"/>
                </a:solidFill>
                <a:latin typeface="Tahoma"/>
              </a:rPr>
              <a:t>ส่งต่อให้ AI อ่าน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03519" y="3657600"/>
            <a:ext cx="1810511" cy="749808"/>
          </a:xfrm>
          <a:prstGeom prst="roundRect">
            <a:avLst>
              <a:gd name="adj" fmla="val 16000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94959" y="3730752"/>
            <a:ext cx="1627631" cy="658368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67B"/>
                </a:solidFill>
                <a:latin typeface="Tahoma"/>
              </a:rPr>
              <a:t>ตัวอย่าง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0F766E"/>
                </a:solidFill>
                <a:latin typeface="Tahoma"/>
              </a:rPr>
              <a:t>เหลือ 3 เรื่องที่ตรงประเด็น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766E"/>
                </a:solidFill>
                <a:latin typeface="Tahoma"/>
              </a:rPr>
              <a:t>ที่สุด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287767" y="2377439"/>
            <a:ext cx="237744" cy="201168"/>
          </a:xfrm>
          <a:prstGeom prst="rightArrow">
            <a:avLst/>
          </a:prstGeom>
          <a:solidFill>
            <a:srgbClr val="9AA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571231" y="2084831"/>
            <a:ext cx="2066543" cy="24871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71231" y="2084831"/>
            <a:ext cx="2066543" cy="685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99248" y="2286000"/>
            <a:ext cx="402336" cy="402336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99248" y="2350008"/>
            <a:ext cx="402336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ahoma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4736" y="2359151"/>
            <a:ext cx="1380743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B2D"/>
                </a:solidFill>
                <a:latin typeface="Tahoma"/>
              </a:rPr>
              <a:t>AI เรียบเรียง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17536" y="2834639"/>
            <a:ext cx="1792223" cy="8229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C"/>
                </a:solidFill>
                <a:latin typeface="Tahoma"/>
              </a:rPr>
              <a:t>AI อ่าน 3 เรื่องนั้น แล้วสรุป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C"/>
                </a:solidFill>
                <a:latin typeface="Tahoma"/>
              </a:rPr>
              <a:t>เป็นคำตอบภาษาคน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99248" y="3657600"/>
            <a:ext cx="1810511" cy="749808"/>
          </a:xfrm>
          <a:prstGeom prst="roundRect">
            <a:avLst>
              <a:gd name="adj" fmla="val 16000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90688" y="3730752"/>
            <a:ext cx="1627631" cy="658368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67B"/>
                </a:solidFill>
                <a:latin typeface="Tahoma"/>
              </a:rPr>
              <a:t>ตัวอย่าง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6D28D9"/>
                </a:solidFill>
                <a:latin typeface="Tahoma"/>
              </a:rPr>
              <a:t>ถูกสั่งไว้ว่า “ห้ามใช้ข้อมูล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D28D9"/>
                </a:solidFill>
                <a:latin typeface="Tahoma"/>
              </a:rPr>
              <a:t>นอกเหนือจากที่ให้”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9683496" y="2377439"/>
            <a:ext cx="237744" cy="201168"/>
          </a:xfrm>
          <a:prstGeom prst="rightArrow">
            <a:avLst/>
          </a:prstGeom>
          <a:solidFill>
            <a:srgbClr val="9AA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966959" y="2084831"/>
            <a:ext cx="2066543" cy="24871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966959" y="2084831"/>
            <a:ext cx="2066543" cy="685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094976" y="2286000"/>
            <a:ext cx="402336" cy="402336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94976" y="2350008"/>
            <a:ext cx="402336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Tahoma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70463" y="2359151"/>
            <a:ext cx="1380743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B2D"/>
                </a:solidFill>
                <a:latin typeface="Tahoma"/>
              </a:rPr>
              <a:t>ตอบ + บอกที่มา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13263" y="2834639"/>
            <a:ext cx="1792223" cy="8229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C"/>
                </a:solidFill>
                <a:latin typeface="Tahoma"/>
              </a:rPr>
              <a:t>ได้คำตอบพร้อมเลขอ้างอิง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C"/>
                </a:solidFill>
                <a:latin typeface="Tahoma"/>
              </a:rPr>
              <a:t>ว่าเอามาจากเรื่องไหน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094976" y="3657600"/>
            <a:ext cx="1810511" cy="749808"/>
          </a:xfrm>
          <a:prstGeom prst="roundRect">
            <a:avLst>
              <a:gd name="adj" fmla="val 16000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86415" y="3730752"/>
            <a:ext cx="1627631" cy="658368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67B"/>
                </a:solidFill>
                <a:latin typeface="Tahoma"/>
              </a:rPr>
              <a:t>ตัวอย่าง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B45309"/>
                </a:solidFill>
                <a:latin typeface="Tahoma"/>
              </a:rPr>
              <a:t>คำตอบ + [1] [2] [3]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B45309"/>
                </a:solidFill>
                <a:latin typeface="Tahoma"/>
              </a:rPr>
              <a:t>ตรวจย้อนกลับได้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84048" y="4956048"/>
            <a:ext cx="3712463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4956048"/>
            <a:ext cx="64008" cy="148132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3" y="5193792"/>
            <a:ext cx="3346703" cy="10972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5803D"/>
                </a:solidFill>
                <a:latin typeface="Tahoma"/>
              </a:rPr>
              <a:t>ไม่มั่ว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3A465C"/>
                </a:solidFill>
                <a:latin typeface="Tahoma"/>
              </a:rPr>
              <a:t>ถ้าไม่มีข้อมูลในคู่มือ ระบบจะบอกว่า “ไม่พบข้อมูล”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A465C"/>
                </a:solidFill>
                <a:latin typeface="Tahoma"/>
              </a:rPr>
              <a:t>แทนที่จะเดาให้ฟังดูดี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238244" y="4956048"/>
            <a:ext cx="3712463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38244" y="4956048"/>
            <a:ext cx="64008" cy="14813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57700" y="5193792"/>
            <a:ext cx="3346703" cy="10972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D4ED8"/>
                </a:solidFill>
                <a:latin typeface="Tahoma"/>
              </a:rPr>
              <a:t>ตรวจสอบได้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3A465C"/>
                </a:solidFill>
                <a:latin typeface="Tahoma"/>
              </a:rPr>
              <a:t>ทุกประโยคมีเลขกำกับว่ามาจากเรื่องไหน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A465C"/>
                </a:solidFill>
                <a:latin typeface="Tahoma"/>
              </a:rPr>
              <a:t>เปิดดูต้นทางได้ทันที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92440" y="4956048"/>
            <a:ext cx="3712463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92440" y="4956048"/>
            <a:ext cx="64008" cy="14813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11896" y="5193792"/>
            <a:ext cx="3346703" cy="10972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Tahoma"/>
              </a:rPr>
              <a:t>ข้อมูลไม่ออกนอกเครื่อง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3A465C"/>
                </a:solidFill>
                <a:latin typeface="Tahoma"/>
              </a:rPr>
              <a:t>AI ทำงานบนคอมพิวเตอร์ของเราเอง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A465C"/>
                </a:solidFill>
                <a:latin typeface="Tahoma"/>
              </a:rPr>
              <a:t>คำถามของผู้ใช้ไม่ถูกส่งขึ้นบริการภายนอก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8412480" cy="6858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Tahoma"/>
              </a:rPr>
              <a:t>ทำไมระบบถึงหาคำตอบได้แม่น  และใช้งานจริงได้แค่ไหน</a:t>
            </a:r>
          </a:p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A5B8D0"/>
                </a:solidFill>
                <a:latin typeface="Tahoma"/>
              </a:rPr>
              <a:t>จุดเด่นของระบบ ตัวอย่างการใช้งานจริง และผลการทดสอบ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19456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Tahoma"/>
              </a:rPr>
              <a:t>116730462033-5  Prapakorn Phithamma</a:t>
            </a:r>
          </a:p>
          <a:p>
            <a:pPr algn="r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A5B8D0"/>
                </a:solidFill>
                <a:latin typeface="Tahoma"/>
              </a:rPr>
              <a:t>LAB3 · ระบบถาม-ตอบภัยออนไลน์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115568"/>
            <a:ext cx="5623560" cy="3127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115568"/>
            <a:ext cx="5623560" cy="6858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316736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223A"/>
                </a:solidFill>
                <a:latin typeface="Tahoma"/>
              </a:rPr>
              <a:t>จุดเด่น : ค้นหา 2 แบบพร้อมกัน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5B667B"/>
                </a:solidFill>
                <a:latin typeface="Tahoma"/>
              </a:rPr>
              <a:t>ระบบทั่วไปมักเลือกอย่างใดอย่างหนึ่ง แต่ระบบนี้ใช้ทั้งคู่แล้วเอาผลมารวมกัน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2066543"/>
            <a:ext cx="5148072" cy="859536"/>
          </a:xfrm>
          <a:prstGeom prst="roundRect">
            <a:avLst>
              <a:gd name="adj" fmla="val 14000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2066543"/>
            <a:ext cx="54864" cy="85953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167127"/>
            <a:ext cx="4892040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D4ED8"/>
                </a:solidFill>
                <a:latin typeface="Tahoma"/>
              </a:rPr>
              <a:t>แบบที่ 1  ค้นจากคำที่ตรงกัน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3A465C"/>
                </a:solidFill>
                <a:latin typeface="Tahoma"/>
              </a:rPr>
              <a:t>เหมือนกด Ctrl+F หาคำ  ถ้าผู้ใช้พิมพ์คำเดียวกับในคู่มือ จะเจอแม่นมาก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5B667B"/>
                </a:solidFill>
                <a:latin typeface="Tahoma"/>
              </a:rPr>
              <a:t>ข้อเสีย : พิมพ์คนละคำ ความหมายเดียวกัน ก็หาไม่เจอ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035808"/>
            <a:ext cx="5148072" cy="859536"/>
          </a:xfrm>
          <a:prstGeom prst="roundRect">
            <a:avLst>
              <a:gd name="adj" fmla="val 14000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3035808"/>
            <a:ext cx="54864" cy="85953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136391"/>
            <a:ext cx="4892040" cy="7315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D28D9"/>
                </a:solidFill>
                <a:latin typeface="Tahoma"/>
              </a:rPr>
              <a:t>แบบที่ 2  ค้นจากความหมาย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3A465C"/>
                </a:solidFill>
                <a:latin typeface="Tahoma"/>
              </a:rPr>
              <a:t>ระบบเข้าใจว่า “โดนดูดเงินจากแบงก์” กับ “แอปดูดเงิน” พูดถึงเรื่องเดียวกัน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5B667B"/>
                </a:solidFill>
                <a:latin typeface="Tahoma"/>
              </a:rPr>
              <a:t>ข้อเสีย : บางครั้งสับสนระหว่างเรื่องที่คล้ายกัน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023360"/>
            <a:ext cx="5148072" cy="0"/>
          </a:xfrm>
          <a:prstGeom prst="roundRect">
            <a:avLst>
              <a:gd name="adj" fmla="val 1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" y="43159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EBF4F8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5166360" cy="6400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223A"/>
                </a:solidFill>
                <a:latin typeface="Tahoma"/>
              </a:rPr>
              <a:t>รวมผลทั้งสองแบบ  =  ครอบคลุมทั้งคนที่พิมพ์ตรงคำ และคนที่พิมพ์ภาษาพูด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C3A50"/>
                </a:solidFill>
                <a:latin typeface="Tahoma"/>
              </a:rPr>
              <a:t>เรื่องที่ทั้งสองวิธีเห็นตรงกันว่าเกี่ยวข้อง จะถูกดันขึ้นมาเป็นอันดับต้น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1115568"/>
            <a:ext cx="5623560" cy="39867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1115568"/>
            <a:ext cx="5623560" cy="685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1316736"/>
            <a:ext cx="5212080" cy="320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223A"/>
                </a:solidFill>
                <a:latin typeface="Tahoma"/>
              </a:rPr>
              <a:t>ตัวอย่างการใช้งานจริง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19088" y="1755648"/>
            <a:ext cx="5148072" cy="457200"/>
          </a:xfrm>
          <a:prstGeom prst="roundRect">
            <a:avLst>
              <a:gd name="adj" fmla="val 20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184708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D4ED8"/>
                </a:solidFill>
                <a:latin typeface="Tahoma"/>
              </a:rPr>
              <a:t>คำถาม :  OTP คืออะไร ทำไมห้ามบอกคนอื่น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359152"/>
            <a:ext cx="5166360" cy="13716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B667B"/>
                </a:solidFill>
                <a:latin typeface="Tahoma"/>
              </a:rPr>
              <a:t>คำตอบของระบบ</a:t>
            </a:r>
          </a:p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141B2D"/>
                </a:solidFill>
                <a:latin typeface="Tahoma"/>
              </a:rPr>
              <a:t>OTP คือรหัสผ่านครั้งเดียวที่ระบบส่งมาเพื่อยืนยันว่าผู้ทำรายการคือเจ้าของบัญชีจริง [1] มันเทียบเท่าลายเซ็นอนุมัติ และใช้สำหรับอนุมัติรายการที่กำลังทำอยู่ ไม่ใช่สำหรับยกเลิกรายการ [2] [3]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19088" y="3822191"/>
            <a:ext cx="5148072" cy="1133856"/>
          </a:xfrm>
          <a:prstGeom prst="roundRect">
            <a:avLst>
              <a:gd name="adj" fmla="val 10000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913632"/>
            <a:ext cx="4846320" cy="10058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5B667B"/>
                </a:solidFill>
                <a:latin typeface="Tahoma"/>
              </a:rPr>
              <a:t>แหล่งที่มาที่ระบบแนบมาให้ตรวจสอบ</a:t>
            </a:r>
          </a:p>
          <a:p>
            <a:pPr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B45309"/>
                </a:solidFill>
                <a:latin typeface="Tahoma"/>
              </a:rPr>
              <a:t>[1]  รหัส OTP คืออะไร ทำไมห้ามบอกใคร  (บรรทัด 283)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B45309"/>
                </a:solidFill>
                <a:latin typeface="Tahoma"/>
              </a:rPr>
              <a:t>[2]  มันขอ OTP บอกว่าจะช่วยยกเลิกรายการให้  (บรรทัด 1222)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B45309"/>
                </a:solidFill>
                <a:latin typeface="Tahoma"/>
              </a:rPr>
              <a:t>[3]  ธนาคารโทรมาขอ OTP บอกได้ไหม  (บรรทัด 820)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" y="5230368"/>
            <a:ext cx="11420856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5358383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223A"/>
                </a:solidFill>
                <a:latin typeface="Tahoma"/>
              </a:rPr>
              <a:t>ผลการทดสอบ</a:t>
            </a:r>
          </a:p>
          <a:p>
            <a:pPr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5B667B"/>
                </a:solidFill>
                <a:latin typeface="Tahoma"/>
              </a:rPr>
              <a:t>ทดสอบด้วยคำถาม 54 ข้อ ที่มีเฉลยไว้ล่วงหน้า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5376672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803D"/>
                </a:solidFill>
                <a:latin typeface="Tahoma"/>
              </a:rPr>
              <a:t>98.7%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94760" y="5833872"/>
            <a:ext cx="1874519" cy="5029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A465C"/>
                </a:solidFill>
                <a:latin typeface="Tahoma"/>
              </a:rPr>
              <a:t>หาคำตอบที่ถูกเจอ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A465C"/>
                </a:solidFill>
                <a:latin typeface="Tahoma"/>
              </a:rPr>
              <a:t>ภายใน 3 อันดับแรก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42432" y="5449824"/>
            <a:ext cx="10972" cy="77724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5376672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D4ED8"/>
                </a:solidFill>
                <a:latin typeface="Tahoma"/>
              </a:rPr>
              <a:t>82%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5833872"/>
            <a:ext cx="1874519" cy="5029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A465C"/>
                </a:solidFill>
                <a:latin typeface="Tahoma"/>
              </a:rPr>
              <a:t>คำตอบอ้างอิงตาม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A465C"/>
                </a:solidFill>
                <a:latin typeface="Tahoma"/>
              </a:rPr>
              <a:t>คู่มือจริง ไม่แต่งเพิ่ม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54112" y="5449824"/>
            <a:ext cx="10972" cy="77724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18120" y="5376672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E7490"/>
                </a:solidFill>
                <a:latin typeface="Tahoma"/>
              </a:rPr>
              <a:t>~4 วินาที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5833872"/>
            <a:ext cx="1874519" cy="5029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A465C"/>
                </a:solidFill>
                <a:latin typeface="Tahoma"/>
              </a:rPr>
              <a:t>เวลาตอบเฉลี่ย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A465C"/>
                </a:solidFill>
                <a:latin typeface="Tahoma"/>
              </a:rPr>
              <a:t>ต่อ 1 คำถาม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65792" y="5449824"/>
            <a:ext cx="10972" cy="77724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9800" y="5376672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B45309"/>
                </a:solidFill>
                <a:latin typeface="Tahoma"/>
              </a:rPr>
              <a:t>391 เรื่อง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5833872"/>
            <a:ext cx="1874519" cy="5029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A465C"/>
                </a:solidFill>
                <a:latin typeface="Tahoma"/>
              </a:rPr>
              <a:t>ขนาดคลังความรู้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A465C"/>
                </a:solidFill>
                <a:latin typeface="Tahoma"/>
              </a:rPr>
              <a:t>ที่ระบบใช้ตอบ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6510528"/>
            <a:ext cx="11420856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67B"/>
                </a:solidFill>
                <a:latin typeface="Tahoma"/>
              </a:rPr>
              <a:t>ข้อจำกัด :  ระบบตอบได้เฉพาะเรื่องที่มีอยู่ในคลังความรู้เท่านั้น  และเป็นข้อมูลเพื่อการศึกษา ไม่ใช่คำปรึกษากฎหมายรายกรณี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